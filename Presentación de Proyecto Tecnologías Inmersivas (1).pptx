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imes New Roman MT Bold" charset="1" panose="02030802070405020303"/>
      <p:regular r:id="rId17"/>
    </p:embeddedFont>
    <p:embeddedFont>
      <p:font typeface="Mukta Bold" charset="1" panose="020B0000000000000000"/>
      <p:regular r:id="rId18"/>
    </p:embeddedFont>
    <p:embeddedFont>
      <p:font typeface="HK Modular" charset="1" panose="00000800000000000000"/>
      <p:regular r:id="rId19"/>
    </p:embeddedFont>
    <p:embeddedFont>
      <p:font typeface="Mina" charset="1" panose="02000503000000000000"/>
      <p:regular r:id="rId20"/>
    </p:embeddedFont>
    <p:embeddedFont>
      <p:font typeface="Mina Bold" charset="1" panose="02000803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6162" y="142007"/>
            <a:ext cx="17204252" cy="10067607"/>
            <a:chOff x="0" y="0"/>
            <a:chExt cx="4531161" cy="26515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1161" cy="2651551"/>
            </a:xfrm>
            <a:custGeom>
              <a:avLst/>
              <a:gdLst/>
              <a:ahLst/>
              <a:cxnLst/>
              <a:rect r="r" b="b" t="t" l="l"/>
              <a:pathLst>
                <a:path h="2651551" w="4531161">
                  <a:moveTo>
                    <a:pt x="22950" y="0"/>
                  </a:moveTo>
                  <a:lnTo>
                    <a:pt x="4508211" y="0"/>
                  </a:lnTo>
                  <a:cubicBezTo>
                    <a:pt x="4514298" y="0"/>
                    <a:pt x="4520135" y="2418"/>
                    <a:pt x="4524439" y="6722"/>
                  </a:cubicBezTo>
                  <a:cubicBezTo>
                    <a:pt x="4528743" y="11026"/>
                    <a:pt x="4531161" y="16863"/>
                    <a:pt x="4531161" y="22950"/>
                  </a:cubicBezTo>
                  <a:lnTo>
                    <a:pt x="4531161" y="2628601"/>
                  </a:lnTo>
                  <a:cubicBezTo>
                    <a:pt x="4531161" y="2634688"/>
                    <a:pt x="4528743" y="2640525"/>
                    <a:pt x="4524439" y="2644829"/>
                  </a:cubicBezTo>
                  <a:cubicBezTo>
                    <a:pt x="4520135" y="2649133"/>
                    <a:pt x="4514298" y="2651551"/>
                    <a:pt x="4508211" y="2651551"/>
                  </a:cubicBezTo>
                  <a:lnTo>
                    <a:pt x="22950" y="2651551"/>
                  </a:lnTo>
                  <a:cubicBezTo>
                    <a:pt x="16863" y="2651551"/>
                    <a:pt x="11026" y="2649133"/>
                    <a:pt x="6722" y="2644829"/>
                  </a:cubicBezTo>
                  <a:cubicBezTo>
                    <a:pt x="2418" y="2640525"/>
                    <a:pt x="0" y="2634688"/>
                    <a:pt x="0" y="2628601"/>
                  </a:cubicBezTo>
                  <a:lnTo>
                    <a:pt x="0" y="22950"/>
                  </a:lnTo>
                  <a:cubicBezTo>
                    <a:pt x="0" y="16863"/>
                    <a:pt x="2418" y="11026"/>
                    <a:pt x="6722" y="6722"/>
                  </a:cubicBezTo>
                  <a:cubicBezTo>
                    <a:pt x="11026" y="2418"/>
                    <a:pt x="16863" y="0"/>
                    <a:pt x="2295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1161" cy="2689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287514" y="0"/>
            <a:ext cx="18863029" cy="10209614"/>
          </a:xfrm>
          <a:custGeom>
            <a:avLst/>
            <a:gdLst/>
            <a:ahLst/>
            <a:cxnLst/>
            <a:rect r="r" b="b" t="t" l="l"/>
            <a:pathLst>
              <a:path h="10209614" w="18863029">
                <a:moveTo>
                  <a:pt x="0" y="0"/>
                </a:moveTo>
                <a:lnTo>
                  <a:pt x="18863028" y="0"/>
                </a:lnTo>
                <a:lnTo>
                  <a:pt x="18863028" y="10209614"/>
                </a:lnTo>
                <a:lnTo>
                  <a:pt x="0" y="10209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766998" y="-308363"/>
            <a:ext cx="4754003" cy="2674127"/>
          </a:xfrm>
          <a:custGeom>
            <a:avLst/>
            <a:gdLst/>
            <a:ahLst/>
            <a:cxnLst/>
            <a:rect r="r" b="b" t="t" l="l"/>
            <a:pathLst>
              <a:path h="2674127" w="4754003">
                <a:moveTo>
                  <a:pt x="0" y="0"/>
                </a:moveTo>
                <a:lnTo>
                  <a:pt x="4754004" y="0"/>
                </a:lnTo>
                <a:lnTo>
                  <a:pt x="4754004" y="2674126"/>
                </a:lnTo>
                <a:lnTo>
                  <a:pt x="0" y="26741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64670" y="2071454"/>
            <a:ext cx="11358659" cy="813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b="true" sz="3899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Universidad Pedagógica de El Salvador </a:t>
            </a:r>
          </a:p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b="true" sz="3899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DR. Luis Alonso Aparicio </a:t>
            </a:r>
          </a:p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b="true" sz="3899">
                <a:solidFill>
                  <a:srgbClr val="FFA51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Integrantes</a:t>
            </a:r>
            <a:r>
              <a:rPr lang="en-US" b="true" sz="3899">
                <a:solidFill>
                  <a:srgbClr val="FFA51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 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Elmer Oswaldo Calderon Cortez CC-58126-19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Allison Gabriela Garcia Ponce GP-64074-23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Oscar Alexander Ceron Hernandez CH-64069-23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María de los Ángeles Acosta Ardón AA-64964-23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Joseline Abigail Torres Jurado TJ-64893-23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Brandon Misael Rodrigo Ayala RA-60677-21</a:t>
            </a:r>
          </a:p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b="true" sz="3899">
                <a:solidFill>
                  <a:srgbClr val="FFA51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Catedrático</a:t>
            </a:r>
            <a:r>
              <a:rPr lang="en-US" b="true" sz="3899">
                <a:solidFill>
                  <a:srgbClr val="FFA51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 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Julio Menéndez </a:t>
            </a:r>
          </a:p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b="true" sz="3899">
                <a:solidFill>
                  <a:srgbClr val="FFA51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Asignatura: 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Gestión de proyectos informáticos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10800000">
            <a:off x="14173200" y="-147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0" y="-147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1417320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0B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7883" y="2405459"/>
            <a:ext cx="9741502" cy="5476082"/>
            <a:chOff x="0" y="0"/>
            <a:chExt cx="2565663" cy="14422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65663" cy="1442260"/>
            </a:xfrm>
            <a:custGeom>
              <a:avLst/>
              <a:gdLst/>
              <a:ahLst/>
              <a:cxnLst/>
              <a:rect r="r" b="b" t="t" l="l"/>
              <a:pathLst>
                <a:path h="1442260" w="2565663">
                  <a:moveTo>
                    <a:pt x="8742" y="0"/>
                  </a:moveTo>
                  <a:lnTo>
                    <a:pt x="2556921" y="0"/>
                  </a:lnTo>
                  <a:cubicBezTo>
                    <a:pt x="2559240" y="0"/>
                    <a:pt x="2561463" y="921"/>
                    <a:pt x="2563103" y="2560"/>
                  </a:cubicBezTo>
                  <a:cubicBezTo>
                    <a:pt x="2564742" y="4200"/>
                    <a:pt x="2565663" y="6424"/>
                    <a:pt x="2565663" y="8742"/>
                  </a:cubicBezTo>
                  <a:lnTo>
                    <a:pt x="2565663" y="1433518"/>
                  </a:lnTo>
                  <a:cubicBezTo>
                    <a:pt x="2565663" y="1438346"/>
                    <a:pt x="2561749" y="1442260"/>
                    <a:pt x="2556921" y="1442260"/>
                  </a:cubicBezTo>
                  <a:lnTo>
                    <a:pt x="8742" y="1442260"/>
                  </a:lnTo>
                  <a:cubicBezTo>
                    <a:pt x="3914" y="1442260"/>
                    <a:pt x="0" y="1438346"/>
                    <a:pt x="0" y="1433518"/>
                  </a:cubicBezTo>
                  <a:lnTo>
                    <a:pt x="0" y="8742"/>
                  </a:lnTo>
                  <a:cubicBezTo>
                    <a:pt x="0" y="3914"/>
                    <a:pt x="3914" y="0"/>
                    <a:pt x="8742" y="0"/>
                  </a:cubicBezTo>
                  <a:close/>
                </a:path>
              </a:pathLst>
            </a:custGeom>
            <a:solidFill>
              <a:srgbClr val="532C49">
                <a:alpha val="4196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565663" cy="1489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3530809">
            <a:off x="-971762" y="6893170"/>
            <a:ext cx="2873124" cy="5430302"/>
          </a:xfrm>
          <a:custGeom>
            <a:avLst/>
            <a:gdLst/>
            <a:ahLst/>
            <a:cxnLst/>
            <a:rect r="r" b="b" t="t" l="l"/>
            <a:pathLst>
              <a:path h="5430302" w="2873124">
                <a:moveTo>
                  <a:pt x="0" y="0"/>
                </a:moveTo>
                <a:lnTo>
                  <a:pt x="2873123" y="0"/>
                </a:lnTo>
                <a:lnTo>
                  <a:pt x="2873123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530809">
            <a:off x="15822738" y="-1526309"/>
            <a:ext cx="2873124" cy="5430302"/>
          </a:xfrm>
          <a:custGeom>
            <a:avLst/>
            <a:gdLst/>
            <a:ahLst/>
            <a:cxnLst/>
            <a:rect r="r" b="b" t="t" l="l"/>
            <a:pathLst>
              <a:path h="5430302" w="2873124">
                <a:moveTo>
                  <a:pt x="0" y="0"/>
                </a:moveTo>
                <a:lnTo>
                  <a:pt x="2873124" y="0"/>
                </a:lnTo>
                <a:lnTo>
                  <a:pt x="2873124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549188" y="3822856"/>
            <a:ext cx="10078989" cy="6464144"/>
            <a:chOff x="0" y="0"/>
            <a:chExt cx="2654549" cy="17024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54549" cy="1702490"/>
            </a:xfrm>
            <a:custGeom>
              <a:avLst/>
              <a:gdLst/>
              <a:ahLst/>
              <a:cxnLst/>
              <a:rect r="r" b="b" t="t" l="l"/>
              <a:pathLst>
                <a:path h="1702490" w="2654549">
                  <a:moveTo>
                    <a:pt x="8449" y="0"/>
                  </a:moveTo>
                  <a:lnTo>
                    <a:pt x="2646099" y="0"/>
                  </a:lnTo>
                  <a:cubicBezTo>
                    <a:pt x="2648340" y="0"/>
                    <a:pt x="2650489" y="890"/>
                    <a:pt x="2652074" y="2475"/>
                  </a:cubicBezTo>
                  <a:cubicBezTo>
                    <a:pt x="2653658" y="4059"/>
                    <a:pt x="2654549" y="6208"/>
                    <a:pt x="2654549" y="8449"/>
                  </a:cubicBezTo>
                  <a:lnTo>
                    <a:pt x="2654549" y="1694041"/>
                  </a:lnTo>
                  <a:cubicBezTo>
                    <a:pt x="2654549" y="1698708"/>
                    <a:pt x="2650766" y="1702490"/>
                    <a:pt x="2646099" y="1702490"/>
                  </a:cubicBezTo>
                  <a:lnTo>
                    <a:pt x="8449" y="1702490"/>
                  </a:lnTo>
                  <a:cubicBezTo>
                    <a:pt x="3783" y="1702490"/>
                    <a:pt x="0" y="1698708"/>
                    <a:pt x="0" y="1694041"/>
                  </a:cubicBezTo>
                  <a:lnTo>
                    <a:pt x="0" y="8449"/>
                  </a:lnTo>
                  <a:cubicBezTo>
                    <a:pt x="0" y="3783"/>
                    <a:pt x="3783" y="0"/>
                    <a:pt x="8449" y="0"/>
                  </a:cubicBezTo>
                  <a:close/>
                </a:path>
              </a:pathLst>
            </a:custGeom>
            <a:solidFill>
              <a:srgbClr val="532C49">
                <a:alpha val="41961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654549" cy="1750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6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631652" y="7651405"/>
            <a:ext cx="6627648" cy="2334780"/>
          </a:xfrm>
          <a:custGeom>
            <a:avLst/>
            <a:gdLst/>
            <a:ahLst/>
            <a:cxnLst/>
            <a:rect r="r" b="b" t="t" l="l"/>
            <a:pathLst>
              <a:path h="2334780" w="6627648">
                <a:moveTo>
                  <a:pt x="0" y="0"/>
                </a:moveTo>
                <a:lnTo>
                  <a:pt x="6627648" y="0"/>
                </a:lnTo>
                <a:lnTo>
                  <a:pt x="6627648" y="2334780"/>
                </a:lnTo>
                <a:lnTo>
                  <a:pt x="0" y="23347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429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192535" y="4199228"/>
            <a:ext cx="3075805" cy="3075805"/>
          </a:xfrm>
          <a:custGeom>
            <a:avLst/>
            <a:gdLst/>
            <a:ahLst/>
            <a:cxnLst/>
            <a:rect r="r" b="b" t="t" l="l"/>
            <a:pathLst>
              <a:path h="3075805" w="3075805">
                <a:moveTo>
                  <a:pt x="0" y="0"/>
                </a:moveTo>
                <a:lnTo>
                  <a:pt x="3075805" y="0"/>
                </a:lnTo>
                <a:lnTo>
                  <a:pt x="3075805" y="3075805"/>
                </a:lnTo>
                <a:lnTo>
                  <a:pt x="0" y="30758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2600067"/>
            <a:ext cx="8878209" cy="5075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3061" indent="-311531" lvl="1">
              <a:lnSpc>
                <a:spcPts val="4559"/>
              </a:lnSpc>
              <a:buFont typeface="Arial"/>
              <a:buChar char="•"/>
            </a:pPr>
            <a:r>
              <a:rPr lang="en-US" b="true" sz="2885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Concepto: Creación de una galería de arte virtual, interactiva, enfocada en el Renacimiento. La experiencia se diseñó para ser disfrutada en un entorno inmersivo usando gafas Meta Quest 2.</a:t>
            </a:r>
          </a:p>
          <a:p>
            <a:pPr algn="l" marL="623061" indent="-311531" lvl="1">
              <a:lnSpc>
                <a:spcPts val="4559"/>
              </a:lnSpc>
              <a:buFont typeface="Arial"/>
              <a:buChar char="•"/>
            </a:pPr>
            <a:r>
              <a:rPr lang="en-US" b="true" sz="2885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Herramientas: Para el modelado 3D, se utilizaron Tinkercad para el primer diseño del cuadro y Blender para la creación de 2 cuadro que fueron exportados a Unity en formato FBX.</a:t>
            </a:r>
          </a:p>
          <a:p>
            <a:pPr algn="l">
              <a:lnSpc>
                <a:spcPts val="4243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993267" y="942975"/>
            <a:ext cx="13111842" cy="689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0"/>
              </a:lnSpc>
            </a:pPr>
            <a:r>
              <a:rPr lang="en-US" sz="3992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Fase 1: Ideación y Modelado 3D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334456" y="4218962"/>
            <a:ext cx="3430531" cy="3056072"/>
          </a:xfrm>
          <a:custGeom>
            <a:avLst/>
            <a:gdLst/>
            <a:ahLst/>
            <a:cxnLst/>
            <a:rect r="r" b="b" t="t" l="l"/>
            <a:pathLst>
              <a:path h="3056072" w="3430531">
                <a:moveTo>
                  <a:pt x="0" y="0"/>
                </a:moveTo>
                <a:lnTo>
                  <a:pt x="3430531" y="0"/>
                </a:lnTo>
                <a:lnTo>
                  <a:pt x="3430531" y="3056071"/>
                </a:lnTo>
                <a:lnTo>
                  <a:pt x="0" y="30560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0B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03999" y="3742235"/>
            <a:ext cx="10078989" cy="6464144"/>
            <a:chOff x="0" y="0"/>
            <a:chExt cx="2654549" cy="1702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54549" cy="1702490"/>
            </a:xfrm>
            <a:custGeom>
              <a:avLst/>
              <a:gdLst/>
              <a:ahLst/>
              <a:cxnLst/>
              <a:rect r="r" b="b" t="t" l="l"/>
              <a:pathLst>
                <a:path h="1702490" w="2654549">
                  <a:moveTo>
                    <a:pt x="8449" y="0"/>
                  </a:moveTo>
                  <a:lnTo>
                    <a:pt x="2646099" y="0"/>
                  </a:lnTo>
                  <a:cubicBezTo>
                    <a:pt x="2648340" y="0"/>
                    <a:pt x="2650489" y="890"/>
                    <a:pt x="2652074" y="2475"/>
                  </a:cubicBezTo>
                  <a:cubicBezTo>
                    <a:pt x="2653658" y="4059"/>
                    <a:pt x="2654549" y="6208"/>
                    <a:pt x="2654549" y="8449"/>
                  </a:cubicBezTo>
                  <a:lnTo>
                    <a:pt x="2654549" y="1694041"/>
                  </a:lnTo>
                  <a:cubicBezTo>
                    <a:pt x="2654549" y="1698708"/>
                    <a:pt x="2650766" y="1702490"/>
                    <a:pt x="2646099" y="1702490"/>
                  </a:cubicBezTo>
                  <a:lnTo>
                    <a:pt x="8449" y="1702490"/>
                  </a:lnTo>
                  <a:cubicBezTo>
                    <a:pt x="3783" y="1702490"/>
                    <a:pt x="0" y="1698708"/>
                    <a:pt x="0" y="1694041"/>
                  </a:cubicBezTo>
                  <a:lnTo>
                    <a:pt x="0" y="8449"/>
                  </a:lnTo>
                  <a:cubicBezTo>
                    <a:pt x="0" y="3783"/>
                    <a:pt x="3783" y="0"/>
                    <a:pt x="8449" y="0"/>
                  </a:cubicBezTo>
                  <a:close/>
                </a:path>
              </a:pathLst>
            </a:custGeom>
            <a:solidFill>
              <a:srgbClr val="532C49">
                <a:alpha val="4196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654549" cy="1750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3530809">
            <a:off x="-971762" y="6893170"/>
            <a:ext cx="2873124" cy="5430302"/>
          </a:xfrm>
          <a:custGeom>
            <a:avLst/>
            <a:gdLst/>
            <a:ahLst/>
            <a:cxnLst/>
            <a:rect r="r" b="b" t="t" l="l"/>
            <a:pathLst>
              <a:path h="5430302" w="2873124">
                <a:moveTo>
                  <a:pt x="0" y="0"/>
                </a:moveTo>
                <a:lnTo>
                  <a:pt x="2873123" y="0"/>
                </a:lnTo>
                <a:lnTo>
                  <a:pt x="2873123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530809">
            <a:off x="15822738" y="-1526309"/>
            <a:ext cx="2873124" cy="5430302"/>
          </a:xfrm>
          <a:custGeom>
            <a:avLst/>
            <a:gdLst/>
            <a:ahLst/>
            <a:cxnLst/>
            <a:rect r="r" b="b" t="t" l="l"/>
            <a:pathLst>
              <a:path h="5430302" w="2873124">
                <a:moveTo>
                  <a:pt x="0" y="0"/>
                </a:moveTo>
                <a:lnTo>
                  <a:pt x="2873124" y="0"/>
                </a:lnTo>
                <a:lnTo>
                  <a:pt x="2873124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906909" y="4978891"/>
            <a:ext cx="8073169" cy="5308109"/>
          </a:xfrm>
          <a:custGeom>
            <a:avLst/>
            <a:gdLst/>
            <a:ahLst/>
            <a:cxnLst/>
            <a:rect r="r" b="b" t="t" l="l"/>
            <a:pathLst>
              <a:path h="5308109" w="8073169">
                <a:moveTo>
                  <a:pt x="0" y="0"/>
                </a:moveTo>
                <a:lnTo>
                  <a:pt x="8073169" y="0"/>
                </a:lnTo>
                <a:lnTo>
                  <a:pt x="8073169" y="5308109"/>
                </a:lnTo>
                <a:lnTo>
                  <a:pt x="0" y="53081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0" y="2405459"/>
            <a:ext cx="9741502" cy="5476082"/>
            <a:chOff x="0" y="0"/>
            <a:chExt cx="2565663" cy="14422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5663" cy="1442260"/>
            </a:xfrm>
            <a:custGeom>
              <a:avLst/>
              <a:gdLst/>
              <a:ahLst/>
              <a:cxnLst/>
              <a:rect r="r" b="b" t="t" l="l"/>
              <a:pathLst>
                <a:path h="1442260" w="2565663">
                  <a:moveTo>
                    <a:pt x="8742" y="0"/>
                  </a:moveTo>
                  <a:lnTo>
                    <a:pt x="2556921" y="0"/>
                  </a:lnTo>
                  <a:cubicBezTo>
                    <a:pt x="2559240" y="0"/>
                    <a:pt x="2561463" y="921"/>
                    <a:pt x="2563103" y="2560"/>
                  </a:cubicBezTo>
                  <a:cubicBezTo>
                    <a:pt x="2564742" y="4200"/>
                    <a:pt x="2565663" y="6424"/>
                    <a:pt x="2565663" y="8742"/>
                  </a:cubicBezTo>
                  <a:lnTo>
                    <a:pt x="2565663" y="1433518"/>
                  </a:lnTo>
                  <a:cubicBezTo>
                    <a:pt x="2565663" y="1438346"/>
                    <a:pt x="2561749" y="1442260"/>
                    <a:pt x="2556921" y="1442260"/>
                  </a:cubicBezTo>
                  <a:lnTo>
                    <a:pt x="8742" y="1442260"/>
                  </a:lnTo>
                  <a:cubicBezTo>
                    <a:pt x="3914" y="1442260"/>
                    <a:pt x="0" y="1438346"/>
                    <a:pt x="0" y="1433518"/>
                  </a:cubicBezTo>
                  <a:lnTo>
                    <a:pt x="0" y="8742"/>
                  </a:lnTo>
                  <a:cubicBezTo>
                    <a:pt x="0" y="3914"/>
                    <a:pt x="3914" y="0"/>
                    <a:pt x="8742" y="0"/>
                  </a:cubicBezTo>
                  <a:close/>
                </a:path>
              </a:pathLst>
            </a:custGeom>
            <a:solidFill>
              <a:srgbClr val="532C49">
                <a:alpha val="41961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565663" cy="1489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6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3742235"/>
            <a:ext cx="7439967" cy="3636284"/>
          </a:xfrm>
          <a:custGeom>
            <a:avLst/>
            <a:gdLst/>
            <a:ahLst/>
            <a:cxnLst/>
            <a:rect r="r" b="b" t="t" l="l"/>
            <a:pathLst>
              <a:path h="3636284" w="7439967">
                <a:moveTo>
                  <a:pt x="0" y="0"/>
                </a:moveTo>
                <a:lnTo>
                  <a:pt x="7439967" y="0"/>
                </a:lnTo>
                <a:lnTo>
                  <a:pt x="7439967" y="3636284"/>
                </a:lnTo>
                <a:lnTo>
                  <a:pt x="0" y="36362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2600067"/>
            <a:ext cx="8878209" cy="537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b="true" sz="2885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Modelo del cuadro inicial en Tinkercad: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93267" y="942975"/>
            <a:ext cx="13111842" cy="689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0"/>
              </a:lnSpc>
            </a:pPr>
            <a:r>
              <a:rPr lang="en-US" sz="3992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Fase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99767" y="3708556"/>
            <a:ext cx="9410685" cy="1178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3"/>
              </a:lnSpc>
            </a:pPr>
            <a:r>
              <a:rPr lang="en-US" sz="3058" b="true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Modelo de los cuadros en blender</a:t>
            </a:r>
          </a:p>
          <a:p>
            <a:pPr algn="l">
              <a:lnSpc>
                <a:spcPts val="4833"/>
              </a:lnSpc>
            </a:pPr>
            <a:r>
              <a:rPr lang="en-US" b="true" sz="3058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 (exportados a Unity)</a:t>
            </a:r>
          </a:p>
        </p:txBody>
      </p:sp>
    </p:spTree>
  </p:cSld>
  <p:clrMapOvr>
    <a:masterClrMapping/>
  </p:clrMapOvr>
  <p:transition spd="fast">
    <p:wipe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530809">
            <a:off x="-971762" y="6893170"/>
            <a:ext cx="2873124" cy="5430302"/>
          </a:xfrm>
          <a:custGeom>
            <a:avLst/>
            <a:gdLst/>
            <a:ahLst/>
            <a:cxnLst/>
            <a:rect r="r" b="b" t="t" l="l"/>
            <a:pathLst>
              <a:path h="5430302" w="2873124">
                <a:moveTo>
                  <a:pt x="0" y="0"/>
                </a:moveTo>
                <a:lnTo>
                  <a:pt x="2873123" y="0"/>
                </a:lnTo>
                <a:lnTo>
                  <a:pt x="2873123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530809">
            <a:off x="15822738" y="-1526309"/>
            <a:ext cx="2873124" cy="5430302"/>
          </a:xfrm>
          <a:custGeom>
            <a:avLst/>
            <a:gdLst/>
            <a:ahLst/>
            <a:cxnLst/>
            <a:rect r="r" b="b" t="t" l="l"/>
            <a:pathLst>
              <a:path h="5430302" w="2873124">
                <a:moveTo>
                  <a:pt x="0" y="0"/>
                </a:moveTo>
                <a:lnTo>
                  <a:pt x="2873124" y="0"/>
                </a:lnTo>
                <a:lnTo>
                  <a:pt x="2873124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32192" y="3245263"/>
            <a:ext cx="15623615" cy="890861"/>
            <a:chOff x="0" y="0"/>
            <a:chExt cx="2420507" cy="1380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20507" cy="138018"/>
            </a:xfrm>
            <a:custGeom>
              <a:avLst/>
              <a:gdLst/>
              <a:ahLst/>
              <a:cxnLst/>
              <a:rect r="r" b="b" t="t" l="l"/>
              <a:pathLst>
                <a:path h="138018" w="2420507">
                  <a:moveTo>
                    <a:pt x="6442" y="0"/>
                  </a:moveTo>
                  <a:lnTo>
                    <a:pt x="2414065" y="0"/>
                  </a:lnTo>
                  <a:cubicBezTo>
                    <a:pt x="2417623" y="0"/>
                    <a:pt x="2420507" y="2884"/>
                    <a:pt x="2420507" y="6442"/>
                  </a:cubicBezTo>
                  <a:lnTo>
                    <a:pt x="2420507" y="131576"/>
                  </a:lnTo>
                  <a:cubicBezTo>
                    <a:pt x="2420507" y="135134"/>
                    <a:pt x="2417623" y="138018"/>
                    <a:pt x="2414065" y="138018"/>
                  </a:cubicBezTo>
                  <a:lnTo>
                    <a:pt x="6442" y="138018"/>
                  </a:lnTo>
                  <a:cubicBezTo>
                    <a:pt x="2884" y="138018"/>
                    <a:pt x="0" y="135134"/>
                    <a:pt x="0" y="131576"/>
                  </a:cubicBezTo>
                  <a:lnTo>
                    <a:pt x="0" y="6442"/>
                  </a:lnTo>
                  <a:cubicBezTo>
                    <a:pt x="0" y="2884"/>
                    <a:pt x="2884" y="0"/>
                    <a:pt x="6442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41054" r="0" b="-44105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157484" y="4726674"/>
            <a:ext cx="7973032" cy="4881647"/>
            <a:chOff x="0" y="0"/>
            <a:chExt cx="2099893" cy="12857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99893" cy="1285701"/>
            </a:xfrm>
            <a:custGeom>
              <a:avLst/>
              <a:gdLst/>
              <a:ahLst/>
              <a:cxnLst/>
              <a:rect r="r" b="b" t="t" l="l"/>
              <a:pathLst>
                <a:path h="1285701" w="2099893">
                  <a:moveTo>
                    <a:pt x="10681" y="0"/>
                  </a:moveTo>
                  <a:lnTo>
                    <a:pt x="2089212" y="0"/>
                  </a:lnTo>
                  <a:cubicBezTo>
                    <a:pt x="2095111" y="0"/>
                    <a:pt x="2099893" y="4782"/>
                    <a:pt x="2099893" y="10681"/>
                  </a:cubicBezTo>
                  <a:lnTo>
                    <a:pt x="2099893" y="1275020"/>
                  </a:lnTo>
                  <a:cubicBezTo>
                    <a:pt x="2099893" y="1280919"/>
                    <a:pt x="2095111" y="1285701"/>
                    <a:pt x="2089212" y="1285701"/>
                  </a:cubicBezTo>
                  <a:lnTo>
                    <a:pt x="10681" y="1285701"/>
                  </a:lnTo>
                  <a:cubicBezTo>
                    <a:pt x="4782" y="1285701"/>
                    <a:pt x="0" y="1280919"/>
                    <a:pt x="0" y="1275020"/>
                  </a:cubicBezTo>
                  <a:lnTo>
                    <a:pt x="0" y="10681"/>
                  </a:lnTo>
                  <a:cubicBezTo>
                    <a:pt x="0" y="4782"/>
                    <a:pt x="4782" y="0"/>
                    <a:pt x="10681" y="0"/>
                  </a:cubicBezTo>
                  <a:close/>
                </a:path>
              </a:pathLst>
            </a:custGeom>
            <a:solidFill>
              <a:srgbClr val="CA4AD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099893" cy="13333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6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414651" y="5048250"/>
            <a:ext cx="7458698" cy="423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2887" indent="-296443" lvl="1">
              <a:lnSpc>
                <a:spcPts val="4338"/>
              </a:lnSpc>
              <a:buFont typeface="Arial"/>
              <a:buChar char="•"/>
            </a:pPr>
            <a:r>
              <a:rPr lang="en-US" b="true" sz="2746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Objetivo: Desarrollar una aplicación móvil en Unity que permita visualizar el cuadro 3D en el mundo real a través de AR.</a:t>
            </a:r>
          </a:p>
          <a:p>
            <a:pPr algn="l" marL="592887" indent="-296443" lvl="1">
              <a:lnSpc>
                <a:spcPts val="4338"/>
              </a:lnSpc>
              <a:buFont typeface="Arial"/>
              <a:buChar char="•"/>
            </a:pPr>
            <a:r>
              <a:rPr lang="en-US" b="true" sz="2746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Tecnología: Se utilizó el motor de desarrollo Unity para esta fase, debido a su robusta capacidad para aplicaciones de realidad aumentada.</a:t>
            </a:r>
          </a:p>
          <a:p>
            <a:pPr algn="l">
              <a:lnSpc>
                <a:spcPts val="370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984096" y="1093592"/>
            <a:ext cx="14319808" cy="1562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70"/>
              </a:lnSpc>
            </a:pPr>
            <a:r>
              <a:rPr lang="en-US" sz="4478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Fase 2: Desarrollo de la aplicación de AR</a:t>
            </a:r>
          </a:p>
        </p:txBody>
      </p:sp>
    </p:spTree>
  </p:cSld>
  <p:clrMapOvr>
    <a:masterClrMapping/>
  </p:clrMapOvr>
  <p:transition spd="fast">
    <p:wipe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0B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530809">
            <a:off x="-971762" y="6893170"/>
            <a:ext cx="2873124" cy="5430302"/>
          </a:xfrm>
          <a:custGeom>
            <a:avLst/>
            <a:gdLst/>
            <a:ahLst/>
            <a:cxnLst/>
            <a:rect r="r" b="b" t="t" l="l"/>
            <a:pathLst>
              <a:path h="5430302" w="2873124">
                <a:moveTo>
                  <a:pt x="0" y="0"/>
                </a:moveTo>
                <a:lnTo>
                  <a:pt x="2873123" y="0"/>
                </a:lnTo>
                <a:lnTo>
                  <a:pt x="2873123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530809">
            <a:off x="15822738" y="-1526309"/>
            <a:ext cx="2873124" cy="5430302"/>
          </a:xfrm>
          <a:custGeom>
            <a:avLst/>
            <a:gdLst/>
            <a:ahLst/>
            <a:cxnLst/>
            <a:rect r="r" b="b" t="t" l="l"/>
            <a:pathLst>
              <a:path h="5430302" w="2873124">
                <a:moveTo>
                  <a:pt x="0" y="0"/>
                </a:moveTo>
                <a:lnTo>
                  <a:pt x="2873124" y="0"/>
                </a:lnTo>
                <a:lnTo>
                  <a:pt x="2873124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70634" y="4988744"/>
            <a:ext cx="15888666" cy="4269556"/>
            <a:chOff x="0" y="0"/>
            <a:chExt cx="4184669" cy="11244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84669" cy="1124492"/>
            </a:xfrm>
            <a:custGeom>
              <a:avLst/>
              <a:gdLst/>
              <a:ahLst/>
              <a:cxnLst/>
              <a:rect r="r" b="b" t="t" l="l"/>
              <a:pathLst>
                <a:path h="1124492" w="4184669">
                  <a:moveTo>
                    <a:pt x="5360" y="0"/>
                  </a:moveTo>
                  <a:lnTo>
                    <a:pt x="4179310" y="0"/>
                  </a:lnTo>
                  <a:cubicBezTo>
                    <a:pt x="4182270" y="0"/>
                    <a:pt x="4184669" y="2400"/>
                    <a:pt x="4184669" y="5360"/>
                  </a:cubicBezTo>
                  <a:lnTo>
                    <a:pt x="4184669" y="1119132"/>
                  </a:lnTo>
                  <a:cubicBezTo>
                    <a:pt x="4184669" y="1122092"/>
                    <a:pt x="4182270" y="1124492"/>
                    <a:pt x="4179310" y="1124492"/>
                  </a:cubicBezTo>
                  <a:lnTo>
                    <a:pt x="5360" y="1124492"/>
                  </a:lnTo>
                  <a:cubicBezTo>
                    <a:pt x="3938" y="1124492"/>
                    <a:pt x="2575" y="1123927"/>
                    <a:pt x="1570" y="1122922"/>
                  </a:cubicBezTo>
                  <a:cubicBezTo>
                    <a:pt x="565" y="1121917"/>
                    <a:pt x="0" y="1120554"/>
                    <a:pt x="0" y="1119132"/>
                  </a:cubicBezTo>
                  <a:lnTo>
                    <a:pt x="0" y="5360"/>
                  </a:lnTo>
                  <a:cubicBezTo>
                    <a:pt x="0" y="2400"/>
                    <a:pt x="2400" y="0"/>
                    <a:pt x="5360" y="0"/>
                  </a:cubicBezTo>
                  <a:close/>
                </a:path>
              </a:pathLst>
            </a:custGeom>
            <a:solidFill>
              <a:srgbClr val="532C49">
                <a:alpha val="41961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184669" cy="1172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83927" y="1418699"/>
            <a:ext cx="6983410" cy="2404158"/>
            <a:chOff x="0" y="0"/>
            <a:chExt cx="1081913" cy="3724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1913" cy="372467"/>
            </a:xfrm>
            <a:custGeom>
              <a:avLst/>
              <a:gdLst/>
              <a:ahLst/>
              <a:cxnLst/>
              <a:rect r="r" b="b" t="t" l="l"/>
              <a:pathLst>
                <a:path h="372467" w="1081913">
                  <a:moveTo>
                    <a:pt x="8869" y="0"/>
                  </a:moveTo>
                  <a:lnTo>
                    <a:pt x="1073044" y="0"/>
                  </a:lnTo>
                  <a:cubicBezTo>
                    <a:pt x="1077942" y="0"/>
                    <a:pt x="1081913" y="3971"/>
                    <a:pt x="1081913" y="8869"/>
                  </a:cubicBezTo>
                  <a:lnTo>
                    <a:pt x="1081913" y="363598"/>
                  </a:lnTo>
                  <a:cubicBezTo>
                    <a:pt x="1081913" y="365950"/>
                    <a:pt x="1080979" y="368206"/>
                    <a:pt x="1079315" y="369869"/>
                  </a:cubicBezTo>
                  <a:cubicBezTo>
                    <a:pt x="1077652" y="371533"/>
                    <a:pt x="1075396" y="372467"/>
                    <a:pt x="1073044" y="372467"/>
                  </a:cubicBezTo>
                  <a:lnTo>
                    <a:pt x="8869" y="372467"/>
                  </a:lnTo>
                  <a:cubicBezTo>
                    <a:pt x="3971" y="372467"/>
                    <a:pt x="0" y="368496"/>
                    <a:pt x="0" y="363598"/>
                  </a:cubicBezTo>
                  <a:lnTo>
                    <a:pt x="0" y="8869"/>
                  </a:lnTo>
                  <a:cubicBezTo>
                    <a:pt x="0" y="3971"/>
                    <a:pt x="3971" y="0"/>
                    <a:pt x="8869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1695" r="0" b="-31695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634862" y="5098776"/>
            <a:ext cx="15360209" cy="3644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8347" indent="-429173" lvl="1">
              <a:lnSpc>
                <a:spcPts val="6281"/>
              </a:lnSpc>
              <a:buFont typeface="Arial"/>
              <a:buChar char="•"/>
            </a:pPr>
            <a:r>
              <a:rPr lang="en-US" sz="3975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Menú principal: Donde inicia la aplicación y se ven los modelo 3D fijado.</a:t>
            </a:r>
          </a:p>
          <a:p>
            <a:pPr algn="l" marL="858347" indent="-429173" lvl="1">
              <a:lnSpc>
                <a:spcPts val="6281"/>
              </a:lnSpc>
              <a:buFont typeface="Arial"/>
              <a:buChar char="•"/>
            </a:pPr>
            <a:r>
              <a:rPr lang="en-US" sz="3975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Menú de ítems: Donde se observa el  modelo 3D.</a:t>
            </a:r>
          </a:p>
          <a:p>
            <a:pPr algn="l" marL="858347" indent="-429173" lvl="1">
              <a:lnSpc>
                <a:spcPts val="6281"/>
              </a:lnSpc>
              <a:buFont typeface="Arial"/>
              <a:buChar char="•"/>
            </a:pPr>
            <a:r>
              <a:rPr lang="en-US" sz="3975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Posicionamiento en realidad aumentada.</a:t>
            </a:r>
          </a:p>
          <a:p>
            <a:pPr algn="l">
              <a:lnSpc>
                <a:spcPts val="3911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5549188" y="4176482"/>
            <a:ext cx="7865299" cy="450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3"/>
              </a:lnSpc>
            </a:pPr>
            <a:r>
              <a:rPr lang="en-US" b="true" sz="2937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Funcionalidades Iniciales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93317" y="1469565"/>
            <a:ext cx="8295016" cy="2353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0"/>
              </a:lnSpc>
            </a:pPr>
            <a:r>
              <a:rPr lang="en-US" sz="4478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Fase 2: </a:t>
            </a:r>
          </a:p>
          <a:p>
            <a:pPr algn="l">
              <a:lnSpc>
                <a:spcPts val="6270"/>
              </a:lnSpc>
            </a:pPr>
            <a:r>
              <a:rPr lang="en-US" sz="4478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Proceso de Desarrollo</a:t>
            </a:r>
          </a:p>
        </p:txBody>
      </p:sp>
    </p:spTree>
  </p:cSld>
  <p:clrMapOvr>
    <a:masterClrMapping/>
  </p:clrMapOvr>
  <p:transition spd="fast">
    <p:wipe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0B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3822856"/>
            <a:ext cx="10078989" cy="6464144"/>
            <a:chOff x="0" y="0"/>
            <a:chExt cx="2654549" cy="1702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54549" cy="1702490"/>
            </a:xfrm>
            <a:custGeom>
              <a:avLst/>
              <a:gdLst/>
              <a:ahLst/>
              <a:cxnLst/>
              <a:rect r="r" b="b" t="t" l="l"/>
              <a:pathLst>
                <a:path h="1702490" w="2654549">
                  <a:moveTo>
                    <a:pt x="8449" y="0"/>
                  </a:moveTo>
                  <a:lnTo>
                    <a:pt x="2646099" y="0"/>
                  </a:lnTo>
                  <a:cubicBezTo>
                    <a:pt x="2648340" y="0"/>
                    <a:pt x="2650489" y="890"/>
                    <a:pt x="2652074" y="2475"/>
                  </a:cubicBezTo>
                  <a:cubicBezTo>
                    <a:pt x="2653658" y="4059"/>
                    <a:pt x="2654549" y="6208"/>
                    <a:pt x="2654549" y="8449"/>
                  </a:cubicBezTo>
                  <a:lnTo>
                    <a:pt x="2654549" y="1694041"/>
                  </a:lnTo>
                  <a:cubicBezTo>
                    <a:pt x="2654549" y="1698708"/>
                    <a:pt x="2650766" y="1702490"/>
                    <a:pt x="2646099" y="1702490"/>
                  </a:cubicBezTo>
                  <a:lnTo>
                    <a:pt x="8449" y="1702490"/>
                  </a:lnTo>
                  <a:cubicBezTo>
                    <a:pt x="3783" y="1702490"/>
                    <a:pt x="0" y="1698708"/>
                    <a:pt x="0" y="1694041"/>
                  </a:cubicBezTo>
                  <a:lnTo>
                    <a:pt x="0" y="8449"/>
                  </a:lnTo>
                  <a:cubicBezTo>
                    <a:pt x="0" y="3783"/>
                    <a:pt x="3783" y="0"/>
                    <a:pt x="8449" y="0"/>
                  </a:cubicBezTo>
                  <a:close/>
                </a:path>
              </a:pathLst>
            </a:custGeom>
            <a:solidFill>
              <a:srgbClr val="532C49">
                <a:alpha val="4196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654549" cy="1750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97883" y="2405459"/>
            <a:ext cx="9741502" cy="5476082"/>
            <a:chOff x="0" y="0"/>
            <a:chExt cx="2565663" cy="14422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65663" cy="1442260"/>
            </a:xfrm>
            <a:custGeom>
              <a:avLst/>
              <a:gdLst/>
              <a:ahLst/>
              <a:cxnLst/>
              <a:rect r="r" b="b" t="t" l="l"/>
              <a:pathLst>
                <a:path h="1442260" w="2565663">
                  <a:moveTo>
                    <a:pt x="8742" y="0"/>
                  </a:moveTo>
                  <a:lnTo>
                    <a:pt x="2556921" y="0"/>
                  </a:lnTo>
                  <a:cubicBezTo>
                    <a:pt x="2559240" y="0"/>
                    <a:pt x="2561463" y="921"/>
                    <a:pt x="2563103" y="2560"/>
                  </a:cubicBezTo>
                  <a:cubicBezTo>
                    <a:pt x="2564742" y="4200"/>
                    <a:pt x="2565663" y="6424"/>
                    <a:pt x="2565663" y="8742"/>
                  </a:cubicBezTo>
                  <a:lnTo>
                    <a:pt x="2565663" y="1433518"/>
                  </a:lnTo>
                  <a:cubicBezTo>
                    <a:pt x="2565663" y="1438346"/>
                    <a:pt x="2561749" y="1442260"/>
                    <a:pt x="2556921" y="1442260"/>
                  </a:cubicBezTo>
                  <a:lnTo>
                    <a:pt x="8742" y="1442260"/>
                  </a:lnTo>
                  <a:cubicBezTo>
                    <a:pt x="3914" y="1442260"/>
                    <a:pt x="0" y="1438346"/>
                    <a:pt x="0" y="1433518"/>
                  </a:cubicBezTo>
                  <a:lnTo>
                    <a:pt x="0" y="8742"/>
                  </a:lnTo>
                  <a:cubicBezTo>
                    <a:pt x="0" y="3914"/>
                    <a:pt x="3914" y="0"/>
                    <a:pt x="8742" y="0"/>
                  </a:cubicBezTo>
                  <a:close/>
                </a:path>
              </a:pathLst>
            </a:custGeom>
            <a:solidFill>
              <a:srgbClr val="532C49">
                <a:alpha val="41961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565663" cy="1489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6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530809">
            <a:off x="-971762" y="6893170"/>
            <a:ext cx="2873124" cy="5430302"/>
          </a:xfrm>
          <a:custGeom>
            <a:avLst/>
            <a:gdLst/>
            <a:ahLst/>
            <a:cxnLst/>
            <a:rect r="r" b="b" t="t" l="l"/>
            <a:pathLst>
              <a:path h="5430302" w="2873124">
                <a:moveTo>
                  <a:pt x="0" y="0"/>
                </a:moveTo>
                <a:lnTo>
                  <a:pt x="2873123" y="0"/>
                </a:lnTo>
                <a:lnTo>
                  <a:pt x="2873123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530809">
            <a:off x="15822738" y="-1526309"/>
            <a:ext cx="2873124" cy="5430302"/>
          </a:xfrm>
          <a:custGeom>
            <a:avLst/>
            <a:gdLst/>
            <a:ahLst/>
            <a:cxnLst/>
            <a:rect r="r" b="b" t="t" l="l"/>
            <a:pathLst>
              <a:path h="5430302" w="2873124">
                <a:moveTo>
                  <a:pt x="0" y="0"/>
                </a:moveTo>
                <a:lnTo>
                  <a:pt x="2873124" y="0"/>
                </a:lnTo>
                <a:lnTo>
                  <a:pt x="2873124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992949" y="4737603"/>
            <a:ext cx="8381091" cy="4473407"/>
          </a:xfrm>
          <a:custGeom>
            <a:avLst/>
            <a:gdLst/>
            <a:ahLst/>
            <a:cxnLst/>
            <a:rect r="r" b="b" t="t" l="l"/>
            <a:pathLst>
              <a:path h="4473407" w="8381091">
                <a:moveTo>
                  <a:pt x="0" y="0"/>
                </a:moveTo>
                <a:lnTo>
                  <a:pt x="8381091" y="0"/>
                </a:lnTo>
                <a:lnTo>
                  <a:pt x="8381091" y="4473407"/>
                </a:lnTo>
                <a:lnTo>
                  <a:pt x="0" y="44734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2590542"/>
            <a:ext cx="8878209" cy="6032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6240" indent="-333120" lvl="1">
              <a:lnSpc>
                <a:spcPts val="4875"/>
              </a:lnSpc>
              <a:buFont typeface="Arial"/>
              <a:buChar char="•"/>
            </a:pPr>
            <a:r>
              <a:rPr lang="en-US" b="true" sz="3085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Interfaz de Usuario (UI): Se diseñó una interfaz simple e intuitiva con botones que permiten al usuario controlar la experiencia, como un botón para activar o desactivar la detección de planos.</a:t>
            </a:r>
          </a:p>
          <a:p>
            <a:pPr algn="l" marL="666240" indent="-333120" lvl="1">
              <a:lnSpc>
                <a:spcPts val="4875"/>
              </a:lnSpc>
              <a:buFont typeface="Arial"/>
              <a:buChar char="•"/>
            </a:pPr>
            <a:r>
              <a:rPr lang="en-US" b="true" sz="3085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Exp</a:t>
            </a:r>
            <a:r>
              <a:rPr lang="en-US" b="true" sz="3085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eriencia del Usuario: El objetivo fue crear una interacción fluida y natural que facilite la visualización del cuadro.</a:t>
            </a:r>
          </a:p>
          <a:p>
            <a:pPr algn="l">
              <a:lnSpc>
                <a:spcPts val="4559"/>
              </a:lnSpc>
            </a:pPr>
          </a:p>
          <a:p>
            <a:pPr algn="l">
              <a:lnSpc>
                <a:spcPts val="4243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743375" y="1103117"/>
            <a:ext cx="14801251" cy="689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0"/>
              </a:lnSpc>
            </a:pPr>
            <a:r>
              <a:rPr lang="en-US" sz="3992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fase 2: Diseño e Interacción de la UI</a:t>
            </a:r>
          </a:p>
        </p:txBody>
      </p:sp>
    </p:spTree>
  </p:cSld>
  <p:clrMapOvr>
    <a:masterClrMapping/>
  </p:clrMapOvr>
  <p:transition spd="fast">
    <p:wipe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0B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530809">
            <a:off x="-971762" y="6618786"/>
            <a:ext cx="2873124" cy="5430302"/>
          </a:xfrm>
          <a:custGeom>
            <a:avLst/>
            <a:gdLst/>
            <a:ahLst/>
            <a:cxnLst/>
            <a:rect r="r" b="b" t="t" l="l"/>
            <a:pathLst>
              <a:path h="5430302" w="2873124">
                <a:moveTo>
                  <a:pt x="0" y="0"/>
                </a:moveTo>
                <a:lnTo>
                  <a:pt x="2873123" y="0"/>
                </a:lnTo>
                <a:lnTo>
                  <a:pt x="2873123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530809">
            <a:off x="15822738" y="-1526309"/>
            <a:ext cx="2873124" cy="5430302"/>
          </a:xfrm>
          <a:custGeom>
            <a:avLst/>
            <a:gdLst/>
            <a:ahLst/>
            <a:cxnLst/>
            <a:rect r="r" b="b" t="t" l="l"/>
            <a:pathLst>
              <a:path h="5430302" w="2873124">
                <a:moveTo>
                  <a:pt x="0" y="0"/>
                </a:moveTo>
                <a:lnTo>
                  <a:pt x="2873124" y="0"/>
                </a:lnTo>
                <a:lnTo>
                  <a:pt x="2873124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99667" y="5143500"/>
            <a:ext cx="15888666" cy="3840415"/>
            <a:chOff x="0" y="0"/>
            <a:chExt cx="4184669" cy="1011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84669" cy="1011467"/>
            </a:xfrm>
            <a:custGeom>
              <a:avLst/>
              <a:gdLst/>
              <a:ahLst/>
              <a:cxnLst/>
              <a:rect r="r" b="b" t="t" l="l"/>
              <a:pathLst>
                <a:path h="1011467" w="4184669">
                  <a:moveTo>
                    <a:pt x="5360" y="0"/>
                  </a:moveTo>
                  <a:lnTo>
                    <a:pt x="4179310" y="0"/>
                  </a:lnTo>
                  <a:cubicBezTo>
                    <a:pt x="4182270" y="0"/>
                    <a:pt x="4184669" y="2400"/>
                    <a:pt x="4184669" y="5360"/>
                  </a:cubicBezTo>
                  <a:lnTo>
                    <a:pt x="4184669" y="1006108"/>
                  </a:lnTo>
                  <a:cubicBezTo>
                    <a:pt x="4184669" y="1009068"/>
                    <a:pt x="4182270" y="1011467"/>
                    <a:pt x="4179310" y="1011467"/>
                  </a:cubicBezTo>
                  <a:lnTo>
                    <a:pt x="5360" y="1011467"/>
                  </a:lnTo>
                  <a:cubicBezTo>
                    <a:pt x="3938" y="1011467"/>
                    <a:pt x="2575" y="1010903"/>
                    <a:pt x="1570" y="1009898"/>
                  </a:cubicBezTo>
                  <a:cubicBezTo>
                    <a:pt x="565" y="1008892"/>
                    <a:pt x="0" y="1007529"/>
                    <a:pt x="0" y="1006108"/>
                  </a:cubicBezTo>
                  <a:lnTo>
                    <a:pt x="0" y="5360"/>
                  </a:lnTo>
                  <a:cubicBezTo>
                    <a:pt x="0" y="2400"/>
                    <a:pt x="2400" y="0"/>
                    <a:pt x="5360" y="0"/>
                  </a:cubicBezTo>
                  <a:close/>
                </a:path>
              </a:pathLst>
            </a:custGeom>
            <a:solidFill>
              <a:srgbClr val="532C49">
                <a:alpha val="41961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184669" cy="1059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83927" y="1418699"/>
            <a:ext cx="6983410" cy="2258041"/>
            <a:chOff x="0" y="0"/>
            <a:chExt cx="1081913" cy="3498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1913" cy="349830"/>
            </a:xfrm>
            <a:custGeom>
              <a:avLst/>
              <a:gdLst/>
              <a:ahLst/>
              <a:cxnLst/>
              <a:rect r="r" b="b" t="t" l="l"/>
              <a:pathLst>
                <a:path h="349830" w="1081913">
                  <a:moveTo>
                    <a:pt x="8869" y="0"/>
                  </a:moveTo>
                  <a:lnTo>
                    <a:pt x="1073044" y="0"/>
                  </a:lnTo>
                  <a:cubicBezTo>
                    <a:pt x="1077942" y="0"/>
                    <a:pt x="1081913" y="3971"/>
                    <a:pt x="1081913" y="8869"/>
                  </a:cubicBezTo>
                  <a:lnTo>
                    <a:pt x="1081913" y="340961"/>
                  </a:lnTo>
                  <a:cubicBezTo>
                    <a:pt x="1081913" y="345859"/>
                    <a:pt x="1077942" y="349830"/>
                    <a:pt x="1073044" y="349830"/>
                  </a:cubicBezTo>
                  <a:lnTo>
                    <a:pt x="8869" y="349830"/>
                  </a:lnTo>
                  <a:cubicBezTo>
                    <a:pt x="6517" y="349830"/>
                    <a:pt x="4261" y="348895"/>
                    <a:pt x="2598" y="347232"/>
                  </a:cubicBezTo>
                  <a:cubicBezTo>
                    <a:pt x="934" y="345569"/>
                    <a:pt x="0" y="343313"/>
                    <a:pt x="0" y="340961"/>
                  </a:cubicBezTo>
                  <a:lnTo>
                    <a:pt x="0" y="8869"/>
                  </a:lnTo>
                  <a:cubicBezTo>
                    <a:pt x="0" y="3971"/>
                    <a:pt x="3971" y="0"/>
                    <a:pt x="8869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6981" r="0" b="-3698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918192" y="7004734"/>
            <a:ext cx="4450905" cy="1542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4"/>
              </a:lnSpc>
            </a:pPr>
            <a:r>
              <a:rPr lang="en-US" b="true" sz="1983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Se implementó una función para que la aplicación detectara automáticamente superficies planas en el entorno físico (como mesas o el suelo).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18548" y="7014259"/>
            <a:ext cx="4450905" cy="160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2"/>
              </a:lnSpc>
            </a:pPr>
            <a:r>
              <a:rPr lang="en-US" b="true" sz="2083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Se incluyó una "nube de puntos" visual para guiar al usuario a las áreas donde el modelo 3D puede ser colocado.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28428" y="7004734"/>
            <a:ext cx="4450905" cy="1542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4"/>
              </a:lnSpc>
            </a:pPr>
            <a:r>
              <a:rPr lang="en-US" b="true" sz="1983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El objeto 3D se incorpora a la escena de Realidad Aumentada al iniciar la aplicación, y el dispositivo lo ancla al mundo real.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10417" y="6458188"/>
            <a:ext cx="5000356" cy="385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b="true" sz="2537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Detección de Superficies: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18192" y="5676612"/>
            <a:ext cx="562552" cy="505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9"/>
              </a:lnSpc>
            </a:pPr>
            <a:r>
              <a:rPr lang="en-US" sz="3303">
                <a:solidFill>
                  <a:srgbClr val="CA4AD1"/>
                </a:solidFill>
                <a:latin typeface="Mina"/>
                <a:ea typeface="Mina"/>
                <a:cs typeface="Mina"/>
                <a:sym typeface="Mina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18548" y="5676612"/>
            <a:ext cx="562552" cy="505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9"/>
              </a:lnSpc>
            </a:pPr>
            <a:r>
              <a:rPr lang="en-US" sz="3303">
                <a:solidFill>
                  <a:srgbClr val="CA4AD1"/>
                </a:solidFill>
                <a:latin typeface="Mina"/>
                <a:ea typeface="Mina"/>
                <a:cs typeface="Mina"/>
                <a:sym typeface="Mina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28428" y="5676612"/>
            <a:ext cx="562552" cy="505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9"/>
              </a:lnSpc>
            </a:pPr>
            <a:r>
              <a:rPr lang="en-US" sz="3303">
                <a:solidFill>
                  <a:srgbClr val="CA4AD1"/>
                </a:solidFill>
                <a:latin typeface="Mina"/>
                <a:ea typeface="Mina"/>
                <a:cs typeface="Mina"/>
                <a:sym typeface="Mina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93317" y="1323449"/>
            <a:ext cx="8295016" cy="2353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0"/>
              </a:lnSpc>
            </a:pPr>
            <a:r>
              <a:rPr lang="en-US" sz="4478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 Detección de Planos y Posicionamiento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10773" y="6458188"/>
            <a:ext cx="5000356" cy="385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b="true" sz="2537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Nube de Puntos: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928428" y="6458188"/>
            <a:ext cx="5000356" cy="385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b="true" sz="2537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Anclaje de Objetos:</a:t>
            </a:r>
          </a:p>
        </p:txBody>
      </p:sp>
    </p:spTree>
  </p:cSld>
  <p:clrMapOvr>
    <a:masterClrMapping/>
  </p:clrMapOvr>
  <p:transition spd="fast">
    <p:wipe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255" y="1460218"/>
            <a:ext cx="7662196" cy="4289263"/>
            <a:chOff x="0" y="0"/>
            <a:chExt cx="2393929" cy="1340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93929" cy="1340111"/>
            </a:xfrm>
            <a:custGeom>
              <a:avLst/>
              <a:gdLst/>
              <a:ahLst/>
              <a:cxnLst/>
              <a:rect r="r" b="b" t="t" l="l"/>
              <a:pathLst>
                <a:path h="1340111" w="2393929">
                  <a:moveTo>
                    <a:pt x="11114" y="0"/>
                  </a:moveTo>
                  <a:lnTo>
                    <a:pt x="2382815" y="0"/>
                  </a:lnTo>
                  <a:cubicBezTo>
                    <a:pt x="2385763" y="0"/>
                    <a:pt x="2388590" y="1171"/>
                    <a:pt x="2390674" y="3255"/>
                  </a:cubicBezTo>
                  <a:cubicBezTo>
                    <a:pt x="2392758" y="5340"/>
                    <a:pt x="2393929" y="8167"/>
                    <a:pt x="2393929" y="11114"/>
                  </a:cubicBezTo>
                  <a:lnTo>
                    <a:pt x="2393929" y="1328997"/>
                  </a:lnTo>
                  <a:cubicBezTo>
                    <a:pt x="2393929" y="1331944"/>
                    <a:pt x="2392758" y="1334771"/>
                    <a:pt x="2390674" y="1336856"/>
                  </a:cubicBezTo>
                  <a:cubicBezTo>
                    <a:pt x="2388590" y="1338940"/>
                    <a:pt x="2385763" y="1340111"/>
                    <a:pt x="2382815" y="1340111"/>
                  </a:cubicBezTo>
                  <a:lnTo>
                    <a:pt x="11114" y="1340111"/>
                  </a:lnTo>
                  <a:cubicBezTo>
                    <a:pt x="8167" y="1340111"/>
                    <a:pt x="5340" y="1338940"/>
                    <a:pt x="3255" y="1336856"/>
                  </a:cubicBezTo>
                  <a:cubicBezTo>
                    <a:pt x="1171" y="1334771"/>
                    <a:pt x="0" y="1331944"/>
                    <a:pt x="0" y="1328997"/>
                  </a:cubicBezTo>
                  <a:lnTo>
                    <a:pt x="0" y="11114"/>
                  </a:lnTo>
                  <a:cubicBezTo>
                    <a:pt x="0" y="8167"/>
                    <a:pt x="1171" y="5340"/>
                    <a:pt x="3255" y="3255"/>
                  </a:cubicBezTo>
                  <a:cubicBezTo>
                    <a:pt x="5340" y="1171"/>
                    <a:pt x="8167" y="0"/>
                    <a:pt x="11114" y="0"/>
                  </a:cubicBezTo>
                  <a:close/>
                </a:path>
              </a:pathLst>
            </a:custGeom>
            <a:solidFill>
              <a:srgbClr val="CA4AD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393929" cy="13877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50302" y="2031373"/>
            <a:ext cx="7793698" cy="4052217"/>
            <a:chOff x="0" y="0"/>
            <a:chExt cx="711397" cy="369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11397" cy="369880"/>
            </a:xfrm>
            <a:custGeom>
              <a:avLst/>
              <a:gdLst/>
              <a:ahLst/>
              <a:cxnLst/>
              <a:rect r="r" b="b" t="t" l="l"/>
              <a:pathLst>
                <a:path h="369880" w="711397">
                  <a:moveTo>
                    <a:pt x="12914" y="0"/>
                  </a:moveTo>
                  <a:lnTo>
                    <a:pt x="698484" y="0"/>
                  </a:lnTo>
                  <a:cubicBezTo>
                    <a:pt x="701909" y="0"/>
                    <a:pt x="705193" y="1361"/>
                    <a:pt x="707615" y="3782"/>
                  </a:cubicBezTo>
                  <a:cubicBezTo>
                    <a:pt x="710037" y="6204"/>
                    <a:pt x="711397" y="9489"/>
                    <a:pt x="711397" y="12914"/>
                  </a:cubicBezTo>
                  <a:lnTo>
                    <a:pt x="711397" y="356967"/>
                  </a:lnTo>
                  <a:cubicBezTo>
                    <a:pt x="711397" y="364099"/>
                    <a:pt x="705616" y="369880"/>
                    <a:pt x="698484" y="369880"/>
                  </a:cubicBezTo>
                  <a:lnTo>
                    <a:pt x="12914" y="369880"/>
                  </a:lnTo>
                  <a:cubicBezTo>
                    <a:pt x="9489" y="369880"/>
                    <a:pt x="6204" y="368520"/>
                    <a:pt x="3782" y="366098"/>
                  </a:cubicBezTo>
                  <a:cubicBezTo>
                    <a:pt x="1361" y="363676"/>
                    <a:pt x="0" y="360392"/>
                    <a:pt x="0" y="356967"/>
                  </a:cubicBezTo>
                  <a:lnTo>
                    <a:pt x="0" y="12914"/>
                  </a:lnTo>
                  <a:cubicBezTo>
                    <a:pt x="0" y="9489"/>
                    <a:pt x="1361" y="6204"/>
                    <a:pt x="3782" y="3782"/>
                  </a:cubicBezTo>
                  <a:cubicBezTo>
                    <a:pt x="6204" y="1361"/>
                    <a:pt x="9489" y="0"/>
                    <a:pt x="12914" y="0"/>
                  </a:cubicBezTo>
                  <a:close/>
                </a:path>
              </a:pathLst>
            </a:custGeom>
            <a:blipFill>
              <a:blip r:embed="rId2"/>
              <a:stretch>
                <a:fillRect l="-356" t="0" r="-35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119391" y="1700856"/>
            <a:ext cx="6814221" cy="3582617"/>
            <a:chOff x="0" y="0"/>
            <a:chExt cx="2128993" cy="11193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28993" cy="1119331"/>
            </a:xfrm>
            <a:custGeom>
              <a:avLst/>
              <a:gdLst/>
              <a:ahLst/>
              <a:cxnLst/>
              <a:rect r="r" b="b" t="t" l="l"/>
              <a:pathLst>
                <a:path h="1119331" w="2128993">
                  <a:moveTo>
                    <a:pt x="12498" y="0"/>
                  </a:moveTo>
                  <a:lnTo>
                    <a:pt x="2116496" y="0"/>
                  </a:lnTo>
                  <a:cubicBezTo>
                    <a:pt x="2123398" y="0"/>
                    <a:pt x="2128993" y="5595"/>
                    <a:pt x="2128993" y="12498"/>
                  </a:cubicBezTo>
                  <a:lnTo>
                    <a:pt x="2128993" y="1106833"/>
                  </a:lnTo>
                  <a:cubicBezTo>
                    <a:pt x="2128993" y="1113736"/>
                    <a:pt x="2123398" y="1119331"/>
                    <a:pt x="2116496" y="1119331"/>
                  </a:cubicBezTo>
                  <a:lnTo>
                    <a:pt x="12498" y="1119331"/>
                  </a:lnTo>
                  <a:cubicBezTo>
                    <a:pt x="5595" y="1119331"/>
                    <a:pt x="0" y="1113736"/>
                    <a:pt x="0" y="1106833"/>
                  </a:cubicBezTo>
                  <a:lnTo>
                    <a:pt x="0" y="12498"/>
                  </a:lnTo>
                  <a:cubicBezTo>
                    <a:pt x="0" y="5595"/>
                    <a:pt x="5595" y="0"/>
                    <a:pt x="12498" y="0"/>
                  </a:cubicBezTo>
                  <a:close/>
                </a:path>
              </a:pathLst>
            </a:custGeom>
            <a:solidFill>
              <a:srgbClr val="CA4AD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128993" cy="1166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6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26017" y="970835"/>
            <a:ext cx="7157257" cy="3721309"/>
            <a:chOff x="0" y="0"/>
            <a:chExt cx="711397" cy="3698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1397" cy="369880"/>
            </a:xfrm>
            <a:custGeom>
              <a:avLst/>
              <a:gdLst/>
              <a:ahLst/>
              <a:cxnLst/>
              <a:rect r="r" b="b" t="t" l="l"/>
              <a:pathLst>
                <a:path h="369880" w="711397">
                  <a:moveTo>
                    <a:pt x="14062" y="0"/>
                  </a:moveTo>
                  <a:lnTo>
                    <a:pt x="697335" y="0"/>
                  </a:lnTo>
                  <a:cubicBezTo>
                    <a:pt x="701065" y="0"/>
                    <a:pt x="704641" y="1482"/>
                    <a:pt x="707279" y="4119"/>
                  </a:cubicBezTo>
                  <a:cubicBezTo>
                    <a:pt x="709916" y="6756"/>
                    <a:pt x="711397" y="10332"/>
                    <a:pt x="711397" y="14062"/>
                  </a:cubicBezTo>
                  <a:lnTo>
                    <a:pt x="711397" y="355818"/>
                  </a:lnTo>
                  <a:cubicBezTo>
                    <a:pt x="711397" y="363585"/>
                    <a:pt x="705102" y="369880"/>
                    <a:pt x="697335" y="369880"/>
                  </a:cubicBezTo>
                  <a:lnTo>
                    <a:pt x="14062" y="369880"/>
                  </a:lnTo>
                  <a:cubicBezTo>
                    <a:pt x="10332" y="369880"/>
                    <a:pt x="6756" y="368399"/>
                    <a:pt x="4119" y="365762"/>
                  </a:cubicBezTo>
                  <a:cubicBezTo>
                    <a:pt x="1482" y="363125"/>
                    <a:pt x="0" y="359548"/>
                    <a:pt x="0" y="355818"/>
                  </a:cubicBezTo>
                  <a:lnTo>
                    <a:pt x="0" y="14062"/>
                  </a:lnTo>
                  <a:cubicBezTo>
                    <a:pt x="0" y="6296"/>
                    <a:pt x="6296" y="0"/>
                    <a:pt x="14062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208" r="0" b="-1208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333650" y="6316020"/>
            <a:ext cx="7266475" cy="3667415"/>
            <a:chOff x="0" y="0"/>
            <a:chExt cx="2270293" cy="11458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70293" cy="1145825"/>
            </a:xfrm>
            <a:custGeom>
              <a:avLst/>
              <a:gdLst/>
              <a:ahLst/>
              <a:cxnLst/>
              <a:rect r="r" b="b" t="t" l="l"/>
              <a:pathLst>
                <a:path h="1145825" w="2270293">
                  <a:moveTo>
                    <a:pt x="11720" y="0"/>
                  </a:moveTo>
                  <a:lnTo>
                    <a:pt x="2258573" y="0"/>
                  </a:lnTo>
                  <a:cubicBezTo>
                    <a:pt x="2261681" y="0"/>
                    <a:pt x="2264662" y="1235"/>
                    <a:pt x="2266860" y="3433"/>
                  </a:cubicBezTo>
                  <a:cubicBezTo>
                    <a:pt x="2269058" y="5631"/>
                    <a:pt x="2270293" y="8611"/>
                    <a:pt x="2270293" y="11720"/>
                  </a:cubicBezTo>
                  <a:lnTo>
                    <a:pt x="2270293" y="1134105"/>
                  </a:lnTo>
                  <a:cubicBezTo>
                    <a:pt x="2270293" y="1137213"/>
                    <a:pt x="2269058" y="1140194"/>
                    <a:pt x="2266860" y="1142392"/>
                  </a:cubicBezTo>
                  <a:cubicBezTo>
                    <a:pt x="2264662" y="1144590"/>
                    <a:pt x="2261681" y="1145825"/>
                    <a:pt x="2258573" y="1145825"/>
                  </a:cubicBezTo>
                  <a:lnTo>
                    <a:pt x="11720" y="1145825"/>
                  </a:lnTo>
                  <a:cubicBezTo>
                    <a:pt x="8611" y="1145825"/>
                    <a:pt x="5631" y="1144590"/>
                    <a:pt x="3433" y="1142392"/>
                  </a:cubicBezTo>
                  <a:cubicBezTo>
                    <a:pt x="1235" y="1140194"/>
                    <a:pt x="0" y="1137213"/>
                    <a:pt x="0" y="1134105"/>
                  </a:cubicBezTo>
                  <a:lnTo>
                    <a:pt x="0" y="11720"/>
                  </a:lnTo>
                  <a:cubicBezTo>
                    <a:pt x="0" y="8611"/>
                    <a:pt x="1235" y="5631"/>
                    <a:pt x="3433" y="3433"/>
                  </a:cubicBezTo>
                  <a:cubicBezTo>
                    <a:pt x="5631" y="1235"/>
                    <a:pt x="8611" y="0"/>
                    <a:pt x="11720" y="0"/>
                  </a:cubicBezTo>
                  <a:close/>
                </a:path>
              </a:pathLst>
            </a:custGeom>
            <a:solidFill>
              <a:srgbClr val="CA4AD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270293" cy="1193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6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781339" y="5617425"/>
            <a:ext cx="7362555" cy="3828051"/>
            <a:chOff x="0" y="0"/>
            <a:chExt cx="711397" cy="3698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1397" cy="369880"/>
            </a:xfrm>
            <a:custGeom>
              <a:avLst/>
              <a:gdLst/>
              <a:ahLst/>
              <a:cxnLst/>
              <a:rect r="r" b="b" t="t" l="l"/>
              <a:pathLst>
                <a:path h="369880" w="711397">
                  <a:moveTo>
                    <a:pt x="13670" y="0"/>
                  </a:moveTo>
                  <a:lnTo>
                    <a:pt x="697727" y="0"/>
                  </a:lnTo>
                  <a:cubicBezTo>
                    <a:pt x="701353" y="0"/>
                    <a:pt x="704830" y="1440"/>
                    <a:pt x="707393" y="4004"/>
                  </a:cubicBezTo>
                  <a:cubicBezTo>
                    <a:pt x="709957" y="6567"/>
                    <a:pt x="711397" y="10044"/>
                    <a:pt x="711397" y="13670"/>
                  </a:cubicBezTo>
                  <a:lnTo>
                    <a:pt x="711397" y="356211"/>
                  </a:lnTo>
                  <a:cubicBezTo>
                    <a:pt x="711397" y="363760"/>
                    <a:pt x="705277" y="369880"/>
                    <a:pt x="697727" y="369880"/>
                  </a:cubicBezTo>
                  <a:lnTo>
                    <a:pt x="13670" y="369880"/>
                  </a:lnTo>
                  <a:cubicBezTo>
                    <a:pt x="10044" y="369880"/>
                    <a:pt x="6567" y="368440"/>
                    <a:pt x="4004" y="365877"/>
                  </a:cubicBezTo>
                  <a:cubicBezTo>
                    <a:pt x="1440" y="363313"/>
                    <a:pt x="0" y="359836"/>
                    <a:pt x="0" y="356211"/>
                  </a:cubicBezTo>
                  <a:lnTo>
                    <a:pt x="0" y="13670"/>
                  </a:lnTo>
                  <a:cubicBezTo>
                    <a:pt x="0" y="6120"/>
                    <a:pt x="6120" y="0"/>
                    <a:pt x="13670" y="0"/>
                  </a:cubicBezTo>
                  <a:close/>
                </a:path>
              </a:pathLst>
            </a:custGeom>
            <a:blipFill>
              <a:blip r:embed="rId4"/>
              <a:stretch>
                <a:fillRect l="-601" t="0" r="-601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-3530809">
            <a:off x="15822738" y="-1744316"/>
            <a:ext cx="2873124" cy="5430302"/>
          </a:xfrm>
          <a:custGeom>
            <a:avLst/>
            <a:gdLst/>
            <a:ahLst/>
            <a:cxnLst/>
            <a:rect r="r" b="b" t="t" l="l"/>
            <a:pathLst>
              <a:path h="5430302" w="2873124">
                <a:moveTo>
                  <a:pt x="0" y="0"/>
                </a:moveTo>
                <a:lnTo>
                  <a:pt x="2873124" y="0"/>
                </a:lnTo>
                <a:lnTo>
                  <a:pt x="2873124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3530809">
            <a:off x="-971762" y="6893170"/>
            <a:ext cx="2873124" cy="5430302"/>
          </a:xfrm>
          <a:custGeom>
            <a:avLst/>
            <a:gdLst/>
            <a:ahLst/>
            <a:cxnLst/>
            <a:rect r="r" b="b" t="t" l="l"/>
            <a:pathLst>
              <a:path h="5430302" w="2873124">
                <a:moveTo>
                  <a:pt x="0" y="0"/>
                </a:moveTo>
                <a:lnTo>
                  <a:pt x="2873123" y="0"/>
                </a:lnTo>
                <a:lnTo>
                  <a:pt x="2873123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wipe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0B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530809">
            <a:off x="-971762" y="6618786"/>
            <a:ext cx="2873124" cy="5430302"/>
          </a:xfrm>
          <a:custGeom>
            <a:avLst/>
            <a:gdLst/>
            <a:ahLst/>
            <a:cxnLst/>
            <a:rect r="r" b="b" t="t" l="l"/>
            <a:pathLst>
              <a:path h="5430302" w="2873124">
                <a:moveTo>
                  <a:pt x="0" y="0"/>
                </a:moveTo>
                <a:lnTo>
                  <a:pt x="2873123" y="0"/>
                </a:lnTo>
                <a:lnTo>
                  <a:pt x="2873123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530809">
            <a:off x="15822738" y="-1526309"/>
            <a:ext cx="2873124" cy="5430302"/>
          </a:xfrm>
          <a:custGeom>
            <a:avLst/>
            <a:gdLst/>
            <a:ahLst/>
            <a:cxnLst/>
            <a:rect r="r" b="b" t="t" l="l"/>
            <a:pathLst>
              <a:path h="5430302" w="2873124">
                <a:moveTo>
                  <a:pt x="0" y="0"/>
                </a:moveTo>
                <a:lnTo>
                  <a:pt x="2873124" y="0"/>
                </a:lnTo>
                <a:lnTo>
                  <a:pt x="2873124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99667" y="4238993"/>
            <a:ext cx="15888666" cy="3840415"/>
            <a:chOff x="0" y="0"/>
            <a:chExt cx="4184669" cy="1011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84669" cy="1011467"/>
            </a:xfrm>
            <a:custGeom>
              <a:avLst/>
              <a:gdLst/>
              <a:ahLst/>
              <a:cxnLst/>
              <a:rect r="r" b="b" t="t" l="l"/>
              <a:pathLst>
                <a:path h="1011467" w="4184669">
                  <a:moveTo>
                    <a:pt x="5360" y="0"/>
                  </a:moveTo>
                  <a:lnTo>
                    <a:pt x="4179310" y="0"/>
                  </a:lnTo>
                  <a:cubicBezTo>
                    <a:pt x="4182270" y="0"/>
                    <a:pt x="4184669" y="2400"/>
                    <a:pt x="4184669" y="5360"/>
                  </a:cubicBezTo>
                  <a:lnTo>
                    <a:pt x="4184669" y="1006108"/>
                  </a:lnTo>
                  <a:cubicBezTo>
                    <a:pt x="4184669" y="1009068"/>
                    <a:pt x="4182270" y="1011467"/>
                    <a:pt x="4179310" y="1011467"/>
                  </a:cubicBezTo>
                  <a:lnTo>
                    <a:pt x="5360" y="1011467"/>
                  </a:lnTo>
                  <a:cubicBezTo>
                    <a:pt x="3938" y="1011467"/>
                    <a:pt x="2575" y="1010903"/>
                    <a:pt x="1570" y="1009898"/>
                  </a:cubicBezTo>
                  <a:cubicBezTo>
                    <a:pt x="565" y="1008892"/>
                    <a:pt x="0" y="1007529"/>
                    <a:pt x="0" y="1006108"/>
                  </a:cubicBezTo>
                  <a:lnTo>
                    <a:pt x="0" y="5360"/>
                  </a:lnTo>
                  <a:cubicBezTo>
                    <a:pt x="0" y="2400"/>
                    <a:pt x="2400" y="0"/>
                    <a:pt x="5360" y="0"/>
                  </a:cubicBezTo>
                  <a:close/>
                </a:path>
              </a:pathLst>
            </a:custGeom>
            <a:solidFill>
              <a:srgbClr val="532C49">
                <a:alpha val="41961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184669" cy="1059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83927" y="1418699"/>
            <a:ext cx="6983410" cy="2258041"/>
            <a:chOff x="0" y="0"/>
            <a:chExt cx="1081913" cy="3498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1913" cy="349830"/>
            </a:xfrm>
            <a:custGeom>
              <a:avLst/>
              <a:gdLst/>
              <a:ahLst/>
              <a:cxnLst/>
              <a:rect r="r" b="b" t="t" l="l"/>
              <a:pathLst>
                <a:path h="349830" w="1081913">
                  <a:moveTo>
                    <a:pt x="8869" y="0"/>
                  </a:moveTo>
                  <a:lnTo>
                    <a:pt x="1073044" y="0"/>
                  </a:lnTo>
                  <a:cubicBezTo>
                    <a:pt x="1077942" y="0"/>
                    <a:pt x="1081913" y="3971"/>
                    <a:pt x="1081913" y="8869"/>
                  </a:cubicBezTo>
                  <a:lnTo>
                    <a:pt x="1081913" y="340961"/>
                  </a:lnTo>
                  <a:cubicBezTo>
                    <a:pt x="1081913" y="345859"/>
                    <a:pt x="1077942" y="349830"/>
                    <a:pt x="1073044" y="349830"/>
                  </a:cubicBezTo>
                  <a:lnTo>
                    <a:pt x="8869" y="349830"/>
                  </a:lnTo>
                  <a:cubicBezTo>
                    <a:pt x="6517" y="349830"/>
                    <a:pt x="4261" y="348895"/>
                    <a:pt x="2598" y="347232"/>
                  </a:cubicBezTo>
                  <a:cubicBezTo>
                    <a:pt x="934" y="345569"/>
                    <a:pt x="0" y="343313"/>
                    <a:pt x="0" y="340961"/>
                  </a:cubicBezTo>
                  <a:lnTo>
                    <a:pt x="0" y="8869"/>
                  </a:lnTo>
                  <a:cubicBezTo>
                    <a:pt x="0" y="3971"/>
                    <a:pt x="3971" y="0"/>
                    <a:pt x="8869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6981" r="0" b="-3698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8793317" y="1323449"/>
            <a:ext cx="8295016" cy="1562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0"/>
              </a:lnSpc>
            </a:pPr>
            <a:r>
              <a:rPr lang="en-US" sz="4478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integracion de modelos 3d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97416" y="4361815"/>
            <a:ext cx="5000356" cy="781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20"/>
              </a:lnSpc>
            </a:pPr>
            <a:r>
              <a:rPr lang="en-US" b="true" sz="5000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Scriptable object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87714" y="5143500"/>
            <a:ext cx="5619760" cy="261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5"/>
              </a:lnSpc>
            </a:pPr>
            <a:r>
              <a:rPr lang="en-US" b="true" sz="2809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Son contenedores de datos, en las cuales primero se crea la plantilla, para definir la información de cada objeto, luego se crea el objeto a partir de esa plantilla </a:t>
            </a:r>
          </a:p>
        </p:txBody>
      </p:sp>
    </p:spTree>
  </p:cSld>
  <p:clrMapOvr>
    <a:masterClrMapping/>
  </p:clrMapOvr>
  <p:transition spd="fast">
    <p:wipe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0B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530809">
            <a:off x="-971762" y="6618786"/>
            <a:ext cx="2873124" cy="5430302"/>
          </a:xfrm>
          <a:custGeom>
            <a:avLst/>
            <a:gdLst/>
            <a:ahLst/>
            <a:cxnLst/>
            <a:rect r="r" b="b" t="t" l="l"/>
            <a:pathLst>
              <a:path h="5430302" w="2873124">
                <a:moveTo>
                  <a:pt x="0" y="0"/>
                </a:moveTo>
                <a:lnTo>
                  <a:pt x="2873123" y="0"/>
                </a:lnTo>
                <a:lnTo>
                  <a:pt x="2873123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530809">
            <a:off x="15822738" y="-1526309"/>
            <a:ext cx="2873124" cy="5430302"/>
          </a:xfrm>
          <a:custGeom>
            <a:avLst/>
            <a:gdLst/>
            <a:ahLst/>
            <a:cxnLst/>
            <a:rect r="r" b="b" t="t" l="l"/>
            <a:pathLst>
              <a:path h="5430302" w="2873124">
                <a:moveTo>
                  <a:pt x="0" y="0"/>
                </a:moveTo>
                <a:lnTo>
                  <a:pt x="2873124" y="0"/>
                </a:lnTo>
                <a:lnTo>
                  <a:pt x="2873124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99667" y="4238993"/>
            <a:ext cx="15888666" cy="3840415"/>
            <a:chOff x="0" y="0"/>
            <a:chExt cx="4184669" cy="1011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84669" cy="1011467"/>
            </a:xfrm>
            <a:custGeom>
              <a:avLst/>
              <a:gdLst/>
              <a:ahLst/>
              <a:cxnLst/>
              <a:rect r="r" b="b" t="t" l="l"/>
              <a:pathLst>
                <a:path h="1011467" w="4184669">
                  <a:moveTo>
                    <a:pt x="5360" y="0"/>
                  </a:moveTo>
                  <a:lnTo>
                    <a:pt x="4179310" y="0"/>
                  </a:lnTo>
                  <a:cubicBezTo>
                    <a:pt x="4182270" y="0"/>
                    <a:pt x="4184669" y="2400"/>
                    <a:pt x="4184669" y="5360"/>
                  </a:cubicBezTo>
                  <a:lnTo>
                    <a:pt x="4184669" y="1006108"/>
                  </a:lnTo>
                  <a:cubicBezTo>
                    <a:pt x="4184669" y="1009068"/>
                    <a:pt x="4182270" y="1011467"/>
                    <a:pt x="4179310" y="1011467"/>
                  </a:cubicBezTo>
                  <a:lnTo>
                    <a:pt x="5360" y="1011467"/>
                  </a:lnTo>
                  <a:cubicBezTo>
                    <a:pt x="3938" y="1011467"/>
                    <a:pt x="2575" y="1010903"/>
                    <a:pt x="1570" y="1009898"/>
                  </a:cubicBezTo>
                  <a:cubicBezTo>
                    <a:pt x="565" y="1008892"/>
                    <a:pt x="0" y="1007529"/>
                    <a:pt x="0" y="1006108"/>
                  </a:cubicBezTo>
                  <a:lnTo>
                    <a:pt x="0" y="5360"/>
                  </a:lnTo>
                  <a:cubicBezTo>
                    <a:pt x="0" y="2400"/>
                    <a:pt x="2400" y="0"/>
                    <a:pt x="5360" y="0"/>
                  </a:cubicBezTo>
                  <a:close/>
                </a:path>
              </a:pathLst>
            </a:custGeom>
            <a:solidFill>
              <a:srgbClr val="532C49">
                <a:alpha val="41961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184669" cy="1059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83927" y="1418699"/>
            <a:ext cx="6983410" cy="2258041"/>
            <a:chOff x="0" y="0"/>
            <a:chExt cx="1081913" cy="3498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1913" cy="349830"/>
            </a:xfrm>
            <a:custGeom>
              <a:avLst/>
              <a:gdLst/>
              <a:ahLst/>
              <a:cxnLst/>
              <a:rect r="r" b="b" t="t" l="l"/>
              <a:pathLst>
                <a:path h="349830" w="1081913">
                  <a:moveTo>
                    <a:pt x="8869" y="0"/>
                  </a:moveTo>
                  <a:lnTo>
                    <a:pt x="1073044" y="0"/>
                  </a:lnTo>
                  <a:cubicBezTo>
                    <a:pt x="1077942" y="0"/>
                    <a:pt x="1081913" y="3971"/>
                    <a:pt x="1081913" y="8869"/>
                  </a:cubicBezTo>
                  <a:lnTo>
                    <a:pt x="1081913" y="340961"/>
                  </a:lnTo>
                  <a:cubicBezTo>
                    <a:pt x="1081913" y="345859"/>
                    <a:pt x="1077942" y="349830"/>
                    <a:pt x="1073044" y="349830"/>
                  </a:cubicBezTo>
                  <a:lnTo>
                    <a:pt x="8869" y="349830"/>
                  </a:lnTo>
                  <a:cubicBezTo>
                    <a:pt x="6517" y="349830"/>
                    <a:pt x="4261" y="348895"/>
                    <a:pt x="2598" y="347232"/>
                  </a:cubicBezTo>
                  <a:cubicBezTo>
                    <a:pt x="934" y="345569"/>
                    <a:pt x="0" y="343313"/>
                    <a:pt x="0" y="340961"/>
                  </a:cubicBezTo>
                  <a:lnTo>
                    <a:pt x="0" y="8869"/>
                  </a:lnTo>
                  <a:cubicBezTo>
                    <a:pt x="0" y="3971"/>
                    <a:pt x="3971" y="0"/>
                    <a:pt x="8869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6981" r="0" b="-3698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8793317" y="1323449"/>
            <a:ext cx="8295016" cy="2648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0"/>
              </a:lnSpc>
            </a:pPr>
            <a:r>
              <a:rPr lang="en-US" sz="4478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Posicionamiento de modelos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(interacciones en realidad aumentada)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65752" y="4658089"/>
            <a:ext cx="5619760" cy="217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6609" indent="-303305" lvl="1">
              <a:lnSpc>
                <a:spcPts val="3495"/>
              </a:lnSpc>
              <a:buFont typeface="Arial"/>
              <a:buChar char="•"/>
            </a:pPr>
            <a:r>
              <a:rPr lang="en-US" b="true" sz="2809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Controles táctiles intuitivos para manipular los objetos y una función que permite tomar fotografías de las escenas creadas.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4648564"/>
            <a:ext cx="6023270" cy="1874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50165" indent="-325083" lvl="1">
              <a:lnSpc>
                <a:spcPts val="3746"/>
              </a:lnSpc>
              <a:buFont typeface="Arial"/>
              <a:buChar char="•"/>
            </a:pPr>
            <a:r>
              <a:rPr lang="en-US" b="true" sz="3011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Esta potencia la creatividad y la colaboración ya que las imágenes pueden compartirse fácilmente en redes sociales</a:t>
            </a:r>
          </a:p>
        </p:txBody>
      </p:sp>
    </p:spTree>
  </p:cSld>
  <p:clrMapOvr>
    <a:masterClrMapping/>
  </p:clrMapOvr>
  <p:transition spd="fast">
    <p:wipe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0B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530809">
            <a:off x="-971762" y="6893170"/>
            <a:ext cx="2873124" cy="5430302"/>
          </a:xfrm>
          <a:custGeom>
            <a:avLst/>
            <a:gdLst/>
            <a:ahLst/>
            <a:cxnLst/>
            <a:rect r="r" b="b" t="t" l="l"/>
            <a:pathLst>
              <a:path h="5430302" w="2873124">
                <a:moveTo>
                  <a:pt x="0" y="0"/>
                </a:moveTo>
                <a:lnTo>
                  <a:pt x="2873123" y="0"/>
                </a:lnTo>
                <a:lnTo>
                  <a:pt x="2873123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530809">
            <a:off x="15651771" y="-2328104"/>
            <a:ext cx="2873124" cy="5430302"/>
          </a:xfrm>
          <a:custGeom>
            <a:avLst/>
            <a:gdLst/>
            <a:ahLst/>
            <a:cxnLst/>
            <a:rect r="r" b="b" t="t" l="l"/>
            <a:pathLst>
              <a:path h="5430302" w="2873124">
                <a:moveTo>
                  <a:pt x="0" y="0"/>
                </a:moveTo>
                <a:lnTo>
                  <a:pt x="2873124" y="0"/>
                </a:lnTo>
                <a:lnTo>
                  <a:pt x="2873124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144000" y="1575081"/>
            <a:ext cx="7010461" cy="2891962"/>
            <a:chOff x="0" y="0"/>
            <a:chExt cx="1846377" cy="7616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46376" cy="761669"/>
            </a:xfrm>
            <a:custGeom>
              <a:avLst/>
              <a:gdLst/>
              <a:ahLst/>
              <a:cxnLst/>
              <a:rect r="r" b="b" t="t" l="l"/>
              <a:pathLst>
                <a:path h="761669" w="1846376">
                  <a:moveTo>
                    <a:pt x="12148" y="0"/>
                  </a:moveTo>
                  <a:lnTo>
                    <a:pt x="1834229" y="0"/>
                  </a:lnTo>
                  <a:cubicBezTo>
                    <a:pt x="1840938" y="0"/>
                    <a:pt x="1846376" y="5439"/>
                    <a:pt x="1846376" y="12148"/>
                  </a:cubicBezTo>
                  <a:lnTo>
                    <a:pt x="1846376" y="749521"/>
                  </a:lnTo>
                  <a:cubicBezTo>
                    <a:pt x="1846376" y="756230"/>
                    <a:pt x="1840938" y="761669"/>
                    <a:pt x="1834229" y="761669"/>
                  </a:cubicBezTo>
                  <a:lnTo>
                    <a:pt x="12148" y="761669"/>
                  </a:lnTo>
                  <a:cubicBezTo>
                    <a:pt x="5439" y="761669"/>
                    <a:pt x="0" y="756230"/>
                    <a:pt x="0" y="749521"/>
                  </a:cubicBezTo>
                  <a:lnTo>
                    <a:pt x="0" y="12148"/>
                  </a:lnTo>
                  <a:cubicBezTo>
                    <a:pt x="0" y="5439"/>
                    <a:pt x="5439" y="0"/>
                    <a:pt x="12148" y="0"/>
                  </a:cubicBezTo>
                  <a:close/>
                </a:path>
              </a:pathLst>
            </a:custGeom>
            <a:solidFill>
              <a:srgbClr val="532C49">
                <a:alpha val="41961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846377" cy="809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650696" y="4089400"/>
            <a:ext cx="6983410" cy="2884906"/>
            <a:chOff x="0" y="0"/>
            <a:chExt cx="1081913" cy="4469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1913" cy="446948"/>
            </a:xfrm>
            <a:custGeom>
              <a:avLst/>
              <a:gdLst/>
              <a:ahLst/>
              <a:cxnLst/>
              <a:rect r="r" b="b" t="t" l="l"/>
              <a:pathLst>
                <a:path h="446948" w="1081913">
                  <a:moveTo>
                    <a:pt x="8869" y="0"/>
                  </a:moveTo>
                  <a:lnTo>
                    <a:pt x="1073044" y="0"/>
                  </a:lnTo>
                  <a:cubicBezTo>
                    <a:pt x="1077942" y="0"/>
                    <a:pt x="1081913" y="3971"/>
                    <a:pt x="1081913" y="8869"/>
                  </a:cubicBezTo>
                  <a:lnTo>
                    <a:pt x="1081913" y="438079"/>
                  </a:lnTo>
                  <a:cubicBezTo>
                    <a:pt x="1081913" y="440431"/>
                    <a:pt x="1080979" y="442687"/>
                    <a:pt x="1079315" y="444350"/>
                  </a:cubicBezTo>
                  <a:cubicBezTo>
                    <a:pt x="1077652" y="446013"/>
                    <a:pt x="1075396" y="446948"/>
                    <a:pt x="1073044" y="446948"/>
                  </a:cubicBezTo>
                  <a:lnTo>
                    <a:pt x="8869" y="446948"/>
                  </a:lnTo>
                  <a:cubicBezTo>
                    <a:pt x="3971" y="446948"/>
                    <a:pt x="0" y="442977"/>
                    <a:pt x="0" y="438079"/>
                  </a:cubicBezTo>
                  <a:lnTo>
                    <a:pt x="0" y="8869"/>
                  </a:lnTo>
                  <a:cubicBezTo>
                    <a:pt x="0" y="3971"/>
                    <a:pt x="3971" y="0"/>
                    <a:pt x="8869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31550" r="0" b="-13155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142401" y="4238699"/>
            <a:ext cx="8295016" cy="162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69"/>
              </a:lnSpc>
            </a:pPr>
            <a:r>
              <a:rPr lang="en-US" sz="9478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GRACIAS</a:t>
            </a:r>
          </a:p>
        </p:txBody>
      </p:sp>
    </p:spTree>
  </p:cSld>
  <p:clrMapOvr>
    <a:masterClrMapping/>
  </p:clrMapOvr>
  <p:transition spd="fast">
    <p:wipe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DAGzfMGkKKQ</dc:identifier>
  <dcterms:modified xsi:type="dcterms:W3CDTF">2011-08-01T06:04:30Z</dcterms:modified>
  <cp:revision>1</cp:revision>
  <dc:title>Presentación de Proyecto Tecnologías Inmersivas</dc:title>
</cp:coreProperties>
</file>